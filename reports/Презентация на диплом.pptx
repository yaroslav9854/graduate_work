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63" r:id="rId5"/>
    <p:sldId id="259" r:id="rId6"/>
    <p:sldId id="260" r:id="rId7"/>
    <p:sldId id="261" r:id="rId8"/>
    <p:sldId id="262" r:id="rId9"/>
    <p:sldId id="264" r:id="rId10"/>
    <p:sldId id="265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10" d="100"/>
          <a:sy n="110" d="100"/>
        </p:scale>
        <p:origin x="594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200" b="1" i="0" u="none" strike="noStrike" kern="1200" baseline="0">
              <a:solidFill>
                <a:schemeClr val="dk1">
                  <a:lumMod val="75000"/>
                  <a:lumOff val="2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Статистика выполнения тестов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</c:spPr>
          </c:dPt>
          <c:dPt>
            <c:idx val="1"/>
            <c:bubble3D val="0"/>
            <c:spPr>
              <a:solidFill>
                <a:schemeClr val="accent2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</c:spPr>
          </c:dPt>
          <c:dLbls>
            <c:spPr>
              <a:pattFill prst="pct75">
                <a:fgClr>
                  <a:schemeClr val="dk1">
                    <a:lumMod val="75000"/>
                    <a:lumOff val="25000"/>
                  </a:schemeClr>
                </a:fgClr>
                <a:bgClr>
                  <a:schemeClr val="dk1">
                    <a:lumMod val="65000"/>
                    <a:lumOff val="35000"/>
                  </a:schemeClr>
                </a:bgClr>
              </a:patt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330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ctr"/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>
                  <a:solidFill>
                    <a:schemeClr val="dk1">
                      <a:lumMod val="50000"/>
                      <a:lumOff val="50000"/>
                    </a:schemeClr>
                  </a:solidFill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layout/>
              </c:ext>
            </c:extLst>
          </c:dLbls>
          <c:cat>
            <c:strRef>
              <c:f>Лист1!$A$2:$A$3</c:f>
              <c:strCache>
                <c:ptCount val="2"/>
                <c:pt idx="0">
                  <c:v>Пройдено</c:v>
                </c:pt>
                <c:pt idx="1">
                  <c:v>Не пройдено</c:v>
                </c:pt>
              </c:strCache>
            </c:strRef>
          </c:cat>
          <c:val>
            <c:numRef>
              <c:f>Лист1!$B$2:$B$3</c:f>
              <c:numCache>
                <c:formatCode>General</c:formatCode>
                <c:ptCount val="2"/>
                <c:pt idx="0">
                  <c:v>26</c:v>
                </c:pt>
                <c:pt idx="1">
                  <c:v>1</c:v>
                </c:pt>
              </c:numCache>
            </c:numRef>
          </c:val>
        </c:ser>
        <c:dLbls>
          <c:dLblPos val="ctr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layout/>
      <c:overlay val="0"/>
      <c:spPr>
        <a:solidFill>
          <a:schemeClr val="lt1">
            <a:lumMod val="95000"/>
            <a:alpha val="39000"/>
          </a:schemeClr>
        </a:solidFill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dk1">
                  <a:lumMod val="75000"/>
                  <a:lumOff val="2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gradFill flip="none" rotWithShape="1">
      <a:gsLst>
        <a:gs pos="0">
          <a:schemeClr val="lt1"/>
        </a:gs>
        <a:gs pos="39000">
          <a:schemeClr val="lt1"/>
        </a:gs>
        <a:gs pos="100000">
          <a:schemeClr val="lt1">
            <a:lumMod val="75000"/>
          </a:schemeClr>
        </a:gs>
      </a:gsLst>
      <a:path path="circle">
        <a:fillToRect l="50000" t="-80000" r="50000" b="180000"/>
      </a:path>
      <a:tileRect/>
    </a:gradFill>
    <a:ln w="9525" cap="flat" cmpd="sng" algn="ctr">
      <a:solidFill>
        <a:schemeClr val="dk1">
          <a:lumMod val="25000"/>
          <a:lumOff val="75000"/>
        </a:schemeClr>
      </a:solidFill>
      <a:round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3">
  <cs:axisTitle>
    <cs:lnRef idx="0"/>
    <cs:fillRef idx="0"/>
    <cs:effectRef idx="0"/>
    <cs:fontRef idx="minor">
      <a:schemeClr val="dk1">
        <a:lumMod val="75000"/>
        <a:lumOff val="25000"/>
      </a:schemeClr>
    </cs:fontRef>
    <cs:defRPr sz="1197" b="1" kern="1200"/>
  </cs:axisTitle>
  <cs:categoryAxis>
    <cs:lnRef idx="0"/>
    <cs:fillRef idx="0"/>
    <cs:effectRef idx="0"/>
    <cs:fontRef idx="minor">
      <a:schemeClr val="dk1">
        <a:lumMod val="75000"/>
        <a:lumOff val="25000"/>
      </a:schemeClr>
    </cs:fontRef>
    <cs:spPr>
      <a:ln w="190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1197" kern="1200" cap="all" baseline="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lt1"/>
          </a:gs>
          <a:gs pos="39000">
            <a:schemeClr val="lt1"/>
          </a:gs>
          <a:gs pos="100000">
            <a:schemeClr val="lt1">
              <a:lumMod val="75000"/>
            </a:schemeClr>
          </a:gs>
        </a:gsLst>
        <a:path path="circle">
          <a:fillToRect l="50000" t="-80000" r="50000" b="180000"/>
        </a:path>
        <a:tileRect/>
      </a:gradFill>
      <a:ln w="9525" cap="flat" cmpd="sng" algn="ctr">
        <a:solidFill>
          <a:schemeClr val="dk1">
            <a:lumMod val="25000"/>
            <a:lumOff val="7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spPr>
      <a:pattFill prst="pct75">
        <a:fgClr>
          <a:schemeClr val="dk1">
            <a:lumMod val="75000"/>
            <a:lumOff val="25000"/>
          </a:schemeClr>
        </a:fgClr>
        <a:bgClr>
          <a:schemeClr val="dk1">
            <a:lumMod val="65000"/>
            <a:lumOff val="35000"/>
          </a:schemeClr>
        </a:bgClr>
      </a:pattFill>
      <a:effectLst>
        <a:outerShdw blurRad="50800" dist="38100" dir="2700000" algn="tl" rotWithShape="0">
          <a:prstClr val="black">
            <a:alpha val="40000"/>
          </a:prstClr>
        </a:outerShdw>
      </a:effectLst>
    </cs:spPr>
    <cs:defRPr sz="1330" b="1" i="0" u="none" strike="noStrike" kern="1200" baseline="0"/>
  </cs:dataLabel>
  <cs:dataLabelCallout>
    <cs:lnRef idx="0"/>
    <cs:fillRef idx="0"/>
    <cs:effectRef idx="0"/>
    <cs:fontRef idx="minor">
      <a:schemeClr val="lt1"/>
    </cs:fontRef>
    <cs:spPr>
      <a:pattFill prst="pct75">
        <a:fgClr>
          <a:schemeClr val="dk1">
            <a:lumMod val="75000"/>
            <a:lumOff val="25000"/>
          </a:schemeClr>
        </a:fgClr>
        <a:bgClr>
          <a:schemeClr val="dk1">
            <a:lumMod val="65000"/>
            <a:lumOff val="35000"/>
          </a:schemeClr>
        </a:bgClr>
      </a:pattFill>
      <a:effectLst>
        <a:outerShdw blurRad="50800" dist="38100" dir="2700000" algn="tl" rotWithShape="0">
          <a:prstClr val="black">
            <a:alpha val="40000"/>
          </a:prstClr>
        </a:outerShdw>
      </a:effectLst>
    </cs:spPr>
    <cs:defRPr sz="1330" b="1" i="0" u="none" strike="noStrike" kern="1200" baseline="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254000" sx="102000" sy="102000" algn="ctr" rotWithShape="0">
          <a:prstClr val="black">
            <a:alpha val="20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254000" sx="102000" sy="102000" algn="ctr" rotWithShape="0">
          <a:prstClr val="black">
            <a:alpha val="20000"/>
          </a:prstClr>
        </a:outerShdw>
      </a:effectLst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31750" cap="rnd">
        <a:solidFill>
          <a:schemeClr val="phClr">
            <a:alpha val="85000"/>
          </a:schemeClr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85000"/>
        </a:schemeClr>
      </a:solidFill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75000"/>
        <a:lumOff val="25000"/>
      </a:schemeClr>
    </cs:fontRef>
    <cs:spPr>
      <a:ln w="9525">
        <a:solidFill>
          <a:schemeClr val="dk1">
            <a:lumMod val="35000"/>
            <a:lumOff val="6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50000"/>
          <a:lumOff val="50000"/>
        </a:schemeClr>
      </a:solidFill>
      <a:ln w="9525">
        <a:solidFill>
          <a:schemeClr val="dk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dk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</a:ln>
    </cs:spPr>
  </cs:leaderLine>
  <cs:legend>
    <cs:lnRef idx="0"/>
    <cs:fillRef idx="0"/>
    <cs:effectRef idx="0"/>
    <cs:fontRef idx="minor">
      <a:schemeClr val="dk1">
        <a:lumMod val="75000"/>
        <a:lumOff val="25000"/>
      </a:schemeClr>
    </cs:fontRef>
    <cs:spPr>
      <a:solidFill>
        <a:schemeClr val="lt1">
          <a:lumMod val="95000"/>
          <a:alpha val="39000"/>
        </a:schemeClr>
      </a:solidFill>
    </cs:spPr>
    <cs:defRPr sz="1197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dk1">
        <a:lumMod val="75000"/>
        <a:lumOff val="25000"/>
      </a:schemeClr>
    </cs:fontRef>
    <cs:spPr>
      <a:ln w="317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seriesLine>
  <cs:title>
    <cs:lnRef idx="0"/>
    <cs:fillRef idx="0"/>
    <cs:effectRef idx="0"/>
    <cs:fontRef idx="minor">
      <a:schemeClr val="dk1">
        <a:lumMod val="75000"/>
        <a:lumOff val="25000"/>
      </a:schemeClr>
    </cs:fontRef>
    <cs:defRPr sz="2200" b="1" kern="120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dk1">
        <a:lumMod val="75000"/>
        <a:lumOff val="2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dk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dk1">
        <a:lumMod val="75000"/>
        <a:lumOff val="25000"/>
      </a:schemeClr>
    </cs:fontRef>
    <cs:spPr>
      <a:ln>
        <a:noFill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7BDBC412-9F14-4FB4-962C-9B4A091C4CE6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3D1DD48A-55F4-46D5-8A02-AAA350D6EB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345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BC412-9F14-4FB4-962C-9B4A091C4CE6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1DD48A-55F4-46D5-8A02-AAA350D6EB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86158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BC412-9F14-4FB4-962C-9B4A091C4CE6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1DD48A-55F4-46D5-8A02-AAA350D6EB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56170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BC412-9F14-4FB4-962C-9B4A091C4CE6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1DD48A-55F4-46D5-8A02-AAA350D6EB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85274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BC412-9F14-4FB4-962C-9B4A091C4CE6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1DD48A-55F4-46D5-8A02-AAA350D6EB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75295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BC412-9F14-4FB4-962C-9B4A091C4CE6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1DD48A-55F4-46D5-8A02-AAA350D6EB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78042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BC412-9F14-4FB4-962C-9B4A091C4CE6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1DD48A-55F4-46D5-8A02-AAA350D6EB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96768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BC412-9F14-4FB4-962C-9B4A091C4CE6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1DD48A-55F4-46D5-8A02-AAA350D6EB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14062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BC412-9F14-4FB4-962C-9B4A091C4CE6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1DD48A-55F4-46D5-8A02-AAA350D6EB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3053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BC412-9F14-4FB4-962C-9B4A091C4CE6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1DD48A-55F4-46D5-8A02-AAA350D6EB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26265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BC412-9F14-4FB4-962C-9B4A091C4CE6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1DD48A-55F4-46D5-8A02-AAA350D6EB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08385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BC412-9F14-4FB4-962C-9B4A091C4CE6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1DD48A-55F4-46D5-8A02-AAA350D6EB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38717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BC412-9F14-4FB4-962C-9B4A091C4CE6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1DD48A-55F4-46D5-8A02-AAA350D6EB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489314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BC412-9F14-4FB4-962C-9B4A091C4CE6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1DD48A-55F4-46D5-8A02-AAA350D6EB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77088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BC412-9F14-4FB4-962C-9B4A091C4CE6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1DD48A-55F4-46D5-8A02-AAA350D6EB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02720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7BDBC412-9F14-4FB4-962C-9B4A091C4CE6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1DD48A-55F4-46D5-8A02-AAA350D6EB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634263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7BDBC412-9F14-4FB4-962C-9B4A091C4CE6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1DD48A-55F4-46D5-8A02-AAA350D6EB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8547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7BDBC412-9F14-4FB4-962C-9B4A091C4CE6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ru-RU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3D1DD48A-55F4-46D5-8A02-AAA350D6EB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90410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Тестирование главной страницы сайта «Альфа центр здоровья»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lang="ru-RU" dirty="0" smtClean="0"/>
              <a:t>Ученик: Шубин Ярослав Алексеевич</a:t>
            </a:r>
          </a:p>
          <a:p>
            <a:pPr algn="l"/>
            <a:r>
              <a:rPr lang="ru-RU" dirty="0" smtClean="0"/>
              <a:t>Название группы: </a:t>
            </a:r>
            <a:r>
              <a:rPr lang="en-US" dirty="0" smtClean="0"/>
              <a:t>QA - 51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669541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Немного информации о себе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ru-RU" dirty="0" smtClean="0"/>
              <a:t>Компьютеры сегодня – это модно.</a:t>
            </a:r>
          </a:p>
          <a:p>
            <a:endParaRPr lang="ru-RU" dirty="0" smtClean="0"/>
          </a:p>
          <a:p>
            <a:r>
              <a:rPr lang="ru-RU" dirty="0" smtClean="0"/>
              <a:t>Я поступил в Радиотехнический колледж и закончил его успешно.</a:t>
            </a:r>
          </a:p>
          <a:p>
            <a:endParaRPr lang="ru-RU" dirty="0"/>
          </a:p>
          <a:p>
            <a:r>
              <a:rPr lang="ru-RU" dirty="0" smtClean="0"/>
              <a:t>Компьютерные знания будут всё ещё актуальны через 20 – 30 лет.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57568" y="2348508"/>
            <a:ext cx="5490417" cy="4319128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2031" y="5108419"/>
            <a:ext cx="3131004" cy="1646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52971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Цели и задач</a:t>
            </a:r>
            <a:r>
              <a:rPr lang="ru-RU" dirty="0"/>
              <a:t>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dirty="0" smtClean="0"/>
              <a:t>Цель: </a:t>
            </a:r>
          </a:p>
          <a:p>
            <a:r>
              <a:rPr lang="ru-RU" dirty="0" smtClean="0"/>
              <a:t>Провести тестирование функциональности главной страницы сайта.</a:t>
            </a:r>
          </a:p>
          <a:p>
            <a:r>
              <a:rPr lang="ru-RU" dirty="0" smtClean="0"/>
              <a:t>Задачи:</a:t>
            </a:r>
          </a:p>
          <a:p>
            <a:r>
              <a:rPr lang="ru-RU" dirty="0" smtClean="0"/>
              <a:t>1. Проведение ручного тестирования (составление тест-плана, чек-листа, тест кейсов)</a:t>
            </a:r>
          </a:p>
          <a:p>
            <a:r>
              <a:rPr lang="ru-RU" dirty="0" smtClean="0"/>
              <a:t>2. Проведение автоматизированного тестирования (написание </a:t>
            </a:r>
            <a:r>
              <a:rPr lang="ru-RU" dirty="0" err="1" smtClean="0"/>
              <a:t>автотестов</a:t>
            </a:r>
            <a:r>
              <a:rPr lang="ru-RU" dirty="0" smtClean="0"/>
              <a:t>)</a:t>
            </a:r>
          </a:p>
          <a:p>
            <a:r>
              <a:rPr lang="ru-RU" dirty="0" smtClean="0"/>
              <a:t>3. Проведение </a:t>
            </a:r>
            <a:r>
              <a:rPr lang="ru-RU" dirty="0" err="1" smtClean="0"/>
              <a:t>кроссбраузерного</a:t>
            </a:r>
            <a:r>
              <a:rPr lang="ru-RU" dirty="0" smtClean="0"/>
              <a:t> и </a:t>
            </a:r>
            <a:r>
              <a:rPr lang="ru-RU" dirty="0" err="1" smtClean="0"/>
              <a:t>юзабилити</a:t>
            </a:r>
            <a:r>
              <a:rPr lang="ru-RU" dirty="0" smtClean="0"/>
              <a:t> тестирования</a:t>
            </a:r>
          </a:p>
          <a:p>
            <a:r>
              <a:rPr lang="ru-RU" dirty="0" smtClean="0"/>
              <a:t>4. Документирования найденных дефектов</a:t>
            </a:r>
          </a:p>
          <a:p>
            <a:r>
              <a:rPr lang="ru-RU" dirty="0" smtClean="0"/>
              <a:t>5. Подготовка итогового отчета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829571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Используемые инструменты и окружение</a:t>
            </a:r>
            <a:endParaRPr lang="ru-RU" dirty="0"/>
          </a:p>
        </p:txBody>
      </p:sp>
      <p:graphicFrame>
        <p:nvGraphicFramePr>
          <p:cNvPr id="5" name="Объект 4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368420625"/>
              </p:ext>
            </p:extLst>
          </p:nvPr>
        </p:nvGraphicFramePr>
        <p:xfrm>
          <a:off x="348343" y="2603500"/>
          <a:ext cx="5631770" cy="40672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7521"/>
                <a:gridCol w="2834249"/>
              </a:tblGrid>
              <a:tr h="586404">
                <a:tc>
                  <a:txBody>
                    <a:bodyPr/>
                    <a:lstStyle/>
                    <a:p>
                      <a:r>
                        <a:rPr lang="ru-RU" dirty="0" smtClean="0"/>
                        <a:t>Компонент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Версия или название</a:t>
                      </a:r>
                      <a:endParaRPr lang="ru-RU" dirty="0"/>
                    </a:p>
                  </a:txBody>
                  <a:tcPr/>
                </a:tc>
              </a:tr>
              <a:tr h="586404">
                <a:tc>
                  <a:txBody>
                    <a:bodyPr/>
                    <a:lstStyle/>
                    <a:p>
                      <a:pPr algn="l" fontAlgn="b"/>
                      <a:r>
                        <a:rPr lang="ru-RU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Язык программирования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Python 3.x</a:t>
                      </a:r>
                    </a:p>
                  </a:txBody>
                  <a:tcPr marL="9525" marR="9525" marT="9525" marB="0" anchor="b"/>
                </a:tc>
              </a:tr>
              <a:tr h="522715">
                <a:tc>
                  <a:txBody>
                    <a:bodyPr/>
                    <a:lstStyle/>
                    <a:p>
                      <a:pPr algn="l" fontAlgn="b"/>
                      <a:r>
                        <a:rPr lang="ru-RU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Фреймворк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pytest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9525" marR="9525" marT="9525" marB="0" anchor="b"/>
                </a:tc>
              </a:tr>
              <a:tr h="586404">
                <a:tc>
                  <a:txBody>
                    <a:bodyPr/>
                    <a:lstStyle/>
                    <a:p>
                      <a:pPr algn="l" fontAlgn="b"/>
                      <a:r>
                        <a:rPr lang="ru-RU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Библиотека автоматизации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Selenium </a:t>
                      </a:r>
                      <a:r>
                        <a:rPr lang="en-US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Webdriver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9525" marR="9525" marT="9525" marB="0" anchor="b"/>
                </a:tc>
              </a:tr>
              <a:tr h="586404">
                <a:tc>
                  <a:txBody>
                    <a:bodyPr/>
                    <a:lstStyle/>
                    <a:p>
                      <a:pPr algn="l" fontAlgn="b"/>
                      <a:r>
                        <a:rPr lang="ru-RU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Браузеры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Chrome, Edge</a:t>
                      </a:r>
                    </a:p>
                  </a:txBody>
                  <a:tcPr marL="9525" marR="9525" marT="9525" marB="0" anchor="b"/>
                </a:tc>
              </a:tr>
              <a:tr h="586404">
                <a:tc>
                  <a:txBody>
                    <a:bodyPr/>
                    <a:lstStyle/>
                    <a:p>
                      <a:pPr algn="l" fontAlgn="b"/>
                      <a:r>
                        <a:rPr lang="ru-RU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Система контроля версии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Git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 + </a:t>
                      </a:r>
                      <a:r>
                        <a:rPr lang="en-US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GitHub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9525" marR="9525" marT="9525" marB="0" anchor="b"/>
                </a:tc>
              </a:tr>
              <a:tr h="612531">
                <a:tc>
                  <a:txBody>
                    <a:bodyPr/>
                    <a:lstStyle/>
                    <a:p>
                      <a:pPr algn="l" fontAlgn="b"/>
                      <a:r>
                        <a:rPr lang="ru-RU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Генерация тестов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Allure Report</a:t>
                      </a:r>
                    </a:p>
                  </a:txBody>
                  <a:tcPr marL="9525" marR="9525" marT="9525" marB="0" anchor="b"/>
                </a:tc>
              </a:tr>
            </a:tbl>
          </a:graphicData>
        </a:graphic>
      </p:graphicFrame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ru-RU" b="1" dirty="0" smtClean="0"/>
              <a:t>Окружение</a:t>
            </a:r>
          </a:p>
          <a:p>
            <a:r>
              <a:rPr lang="en-US" dirty="0" smtClean="0"/>
              <a:t>URL</a:t>
            </a:r>
            <a:r>
              <a:rPr lang="ru-RU" dirty="0" smtClean="0"/>
              <a:t>: </a:t>
            </a:r>
            <a:r>
              <a:rPr lang="en-US" dirty="0"/>
              <a:t>https://alfazdrav.ru/</a:t>
            </a:r>
            <a:endParaRPr lang="ru-RU" dirty="0" smtClean="0"/>
          </a:p>
          <a:p>
            <a:r>
              <a:rPr lang="en-US" dirty="0" smtClean="0"/>
              <a:t>OC:</a:t>
            </a:r>
            <a:r>
              <a:rPr lang="ru-RU" dirty="0" smtClean="0"/>
              <a:t> </a:t>
            </a:r>
            <a:r>
              <a:rPr lang="en-US" dirty="0"/>
              <a:t>Windows 10</a:t>
            </a:r>
            <a:endParaRPr lang="ru-RU" dirty="0" smtClean="0"/>
          </a:p>
          <a:p>
            <a:r>
              <a:rPr lang="ru-RU" dirty="0" smtClean="0"/>
              <a:t>Разрешение экрана</a:t>
            </a:r>
            <a:r>
              <a:rPr lang="ru-RU" dirty="0"/>
              <a:t>: 1920х1080, </a:t>
            </a:r>
            <a:r>
              <a:rPr lang="ru-RU" dirty="0" smtClean="0"/>
              <a:t>1600х900</a:t>
            </a:r>
          </a:p>
          <a:p>
            <a:r>
              <a:rPr lang="ru-RU" dirty="0" smtClean="0"/>
              <a:t>Браузеры: </a:t>
            </a:r>
            <a:r>
              <a:rPr lang="en-US" dirty="0"/>
              <a:t>Chrome, Edge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218528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Интеллект- карта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263" y="1616978"/>
            <a:ext cx="11251474" cy="5241022"/>
          </a:xfrm>
        </p:spPr>
      </p:pic>
    </p:spTree>
    <p:extLst>
      <p:ext uri="{BB962C8B-B14F-4D97-AF65-F5344CB8AC3E}">
        <p14:creationId xmlns:p14="http://schemas.microsoft.com/office/powerpoint/2010/main" val="322160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Ручное тестирование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281228" y="1588570"/>
            <a:ext cx="4825157" cy="749565"/>
          </a:xfrm>
        </p:spPr>
        <p:txBody>
          <a:bodyPr/>
          <a:lstStyle/>
          <a:p>
            <a:r>
              <a:rPr lang="ru-RU" dirty="0" smtClean="0"/>
              <a:t>Чек - лист</a:t>
            </a:r>
            <a:endParaRPr lang="ru-RU" dirty="0"/>
          </a:p>
        </p:txBody>
      </p:sp>
      <p:pic>
        <p:nvPicPr>
          <p:cNvPr id="9" name="Объект 8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281228" y="3056271"/>
            <a:ext cx="5533860" cy="3801729"/>
          </a:xfrm>
          <a:prstGeom prst="rect">
            <a:avLst/>
          </a:prstGeom>
        </p:spPr>
      </p:pic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208712" y="1216241"/>
            <a:ext cx="4825159" cy="1473693"/>
          </a:xfrm>
        </p:spPr>
        <p:txBody>
          <a:bodyPr/>
          <a:lstStyle/>
          <a:p>
            <a:r>
              <a:rPr lang="ru-RU" dirty="0" smtClean="0"/>
              <a:t>Тест - кейс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281228" y="2306706"/>
            <a:ext cx="5533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Получившееся количество составило 96 шт.</a:t>
            </a:r>
            <a:endParaRPr lang="ru-RU" dirty="0"/>
          </a:p>
        </p:txBody>
      </p:sp>
      <p:sp>
        <p:nvSpPr>
          <p:cNvPr id="13" name="TextBox 12"/>
          <p:cNvSpPr txBox="1"/>
          <p:nvPr/>
        </p:nvSpPr>
        <p:spPr>
          <a:xfrm>
            <a:off x="6217590" y="2651196"/>
            <a:ext cx="5758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Всего было создано </a:t>
            </a:r>
            <a:r>
              <a:rPr lang="ru-RU" dirty="0" smtClean="0"/>
              <a:t>27 </a:t>
            </a:r>
            <a:r>
              <a:rPr lang="ru-RU" dirty="0" smtClean="0"/>
              <a:t>тест – кейса. </a:t>
            </a:r>
            <a:endParaRPr lang="ru-RU" dirty="0"/>
          </a:p>
        </p:txBody>
      </p:sp>
      <p:graphicFrame>
        <p:nvGraphicFramePr>
          <p:cNvPr id="19" name="Объект 18"/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521508427"/>
              </p:ext>
            </p:extLst>
          </p:nvPr>
        </p:nvGraphicFramePr>
        <p:xfrm>
          <a:off x="6208713" y="3179763"/>
          <a:ext cx="5852658" cy="35955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3718340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Автоматизированное тестирование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Общее количество </a:t>
            </a:r>
            <a:r>
              <a:rPr lang="ru-RU" dirty="0" smtClean="0"/>
              <a:t>21 </a:t>
            </a:r>
            <a:r>
              <a:rPr lang="ru-RU" dirty="0" smtClean="0"/>
              <a:t>шт.</a:t>
            </a:r>
            <a:endParaRPr lang="ru-RU" dirty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113211" y="3179762"/>
            <a:ext cx="5866901" cy="2840039"/>
          </a:xfrm>
        </p:spPr>
        <p:txBody>
          <a:bodyPr/>
          <a:lstStyle/>
          <a:p>
            <a:pPr marL="0" indent="0">
              <a:buNone/>
            </a:pPr>
            <a:endParaRPr lang="ru-RU" dirty="0" smtClean="0"/>
          </a:p>
          <a:p>
            <a:r>
              <a:rPr lang="ru-RU" dirty="0"/>
              <a:t>Скорость загрузки главной страницы </a:t>
            </a:r>
            <a:r>
              <a:rPr lang="en-US" dirty="0"/>
              <a:t>~</a:t>
            </a:r>
            <a:r>
              <a:rPr lang="ru-RU" dirty="0"/>
              <a:t> 3</a:t>
            </a:r>
            <a:r>
              <a:rPr lang="ru-RU" dirty="0" smtClean="0"/>
              <a:t> </a:t>
            </a:r>
            <a:r>
              <a:rPr lang="ru-RU" dirty="0"/>
              <a:t>с</a:t>
            </a:r>
          </a:p>
          <a:p>
            <a:endParaRPr lang="ru-RU" dirty="0" smtClean="0"/>
          </a:p>
          <a:p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7" name="Объект 6"/>
          <p:cNvPicPr>
            <a:picLocks noGrp="1" noChangeAspect="1"/>
          </p:cNvPicPr>
          <p:nvPr>
            <p:ph sz="quarter" idx="4"/>
          </p:nvPr>
        </p:nvPicPr>
        <p:blipFill>
          <a:blip r:embed="rId2"/>
          <a:stretch>
            <a:fillRect/>
          </a:stretch>
        </p:blipFill>
        <p:spPr>
          <a:xfrm>
            <a:off x="5535660" y="2256894"/>
            <a:ext cx="6521866" cy="4396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9500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 smtClean="0"/>
              <a:t>Кроссбраузерное</a:t>
            </a:r>
            <a:r>
              <a:rPr lang="ru-RU" dirty="0" smtClean="0"/>
              <a:t> тестирование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7" name="Объект 6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994264" y="2227972"/>
            <a:ext cx="8379920" cy="4713704"/>
          </a:xfrm>
          <a:prstGeom prst="rect">
            <a:avLst/>
          </a:prstGeom>
        </p:spPr>
      </p:pic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9479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 smtClean="0"/>
              <a:t>Юзабилити</a:t>
            </a:r>
            <a:r>
              <a:rPr lang="ru-RU" dirty="0" smtClean="0"/>
              <a:t> тестирование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Мобильное устройство</a:t>
            </a:r>
            <a:r>
              <a:rPr lang="en-US" dirty="0" smtClean="0"/>
              <a:t> </a:t>
            </a:r>
            <a:r>
              <a:rPr lang="en-US" dirty="0"/>
              <a:t>iPhone 12 </a:t>
            </a:r>
            <a:r>
              <a:rPr lang="en-US" dirty="0" smtClean="0"/>
              <a:t>Pro</a:t>
            </a:r>
            <a:r>
              <a:rPr lang="ru-RU" dirty="0" smtClean="0"/>
              <a:t> </a:t>
            </a:r>
            <a:endParaRPr lang="en-US" dirty="0" smtClean="0"/>
          </a:p>
          <a:p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8999" y="2928286"/>
            <a:ext cx="1943370" cy="39297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443063" y="267353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6" name="TextBox 5"/>
          <p:cNvSpPr txBox="1"/>
          <p:nvPr/>
        </p:nvSpPr>
        <p:spPr>
          <a:xfrm>
            <a:off x="6183085" y="2858197"/>
            <a:ext cx="43368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Планшет: </a:t>
            </a:r>
            <a:r>
              <a:rPr lang="en-US" dirty="0"/>
              <a:t>iPad </a:t>
            </a:r>
            <a:r>
              <a:rPr lang="en-US" dirty="0" smtClean="0"/>
              <a:t>PRO</a:t>
            </a:r>
            <a:r>
              <a:rPr lang="ru-RU" dirty="0" smtClean="0"/>
              <a:t> 11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2046" y="2110710"/>
            <a:ext cx="3178323" cy="4401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13118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768895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Ион (конференц-зал)">
  <a:themeElements>
    <a:clrScheme name="Ион (конференц-зал)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Ион (конференц-зал)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Ион (конференц-зал)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90</TotalTime>
  <Words>215</Words>
  <Application>Microsoft Office PowerPoint</Application>
  <PresentationFormat>Широкоэкранный</PresentationFormat>
  <Paragraphs>53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4" baseType="lpstr">
      <vt:lpstr>Arial</vt:lpstr>
      <vt:lpstr>Century Gothic</vt:lpstr>
      <vt:lpstr>Wingdings 3</vt:lpstr>
      <vt:lpstr>Ион (конференц-зал)</vt:lpstr>
      <vt:lpstr>Тестирование главной страницы сайта «Альфа центр здоровья»</vt:lpstr>
      <vt:lpstr>Немного информации о себе</vt:lpstr>
      <vt:lpstr>Цели и задачи</vt:lpstr>
      <vt:lpstr>Используемые инструменты и окружение</vt:lpstr>
      <vt:lpstr>Интеллект- карта</vt:lpstr>
      <vt:lpstr>Ручное тестирование</vt:lpstr>
      <vt:lpstr>Автоматизированное тестирование</vt:lpstr>
      <vt:lpstr>Кроссбраузерное тестирование</vt:lpstr>
      <vt:lpstr>Юзабилити тестирование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Тестирование главной страницы сайта «Альфа центр здоровья»</dc:title>
  <dc:creator>Учетная запись Майкрософт</dc:creator>
  <cp:lastModifiedBy>Учетная запись Майкрософт</cp:lastModifiedBy>
  <cp:revision>14</cp:revision>
  <dcterms:created xsi:type="dcterms:W3CDTF">2026-04-12T12:06:46Z</dcterms:created>
  <dcterms:modified xsi:type="dcterms:W3CDTF">2026-04-16T12:03:35Z</dcterms:modified>
</cp:coreProperties>
</file>